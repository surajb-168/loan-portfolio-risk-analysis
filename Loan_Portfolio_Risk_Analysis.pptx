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kumar Bevnale" userId="a0c76422027cf7ff" providerId="LiveId" clId="{DA4FFEEB-5CF0-4218-8CAC-44DBC8C79EC3}"/>
    <pc:docChg chg="undo custSel modSld">
      <pc:chgData name="Surajkumar Bevnale" userId="a0c76422027cf7ff" providerId="LiveId" clId="{DA4FFEEB-5CF0-4218-8CAC-44DBC8C79EC3}" dt="2026-07-31T16:32:31.729" v="16" actId="20577"/>
      <pc:docMkLst>
        <pc:docMk/>
      </pc:docMkLst>
      <pc:sldChg chg="addSp delSp modSp mod">
        <pc:chgData name="Surajkumar Bevnale" userId="a0c76422027cf7ff" providerId="LiveId" clId="{DA4FFEEB-5CF0-4218-8CAC-44DBC8C79EC3}" dt="2026-07-31T16:31:59.649" v="15" actId="478"/>
        <pc:sldMkLst>
          <pc:docMk/>
          <pc:sldMk cId="0" sldId="256"/>
        </pc:sldMkLst>
        <pc:spChg chg="mod">
          <ac:chgData name="Surajkumar Bevnale" userId="a0c76422027cf7ff" providerId="LiveId" clId="{DA4FFEEB-5CF0-4218-8CAC-44DBC8C79EC3}" dt="2026-07-31T16:31:50.993" v="12" actId="20577"/>
          <ac:spMkLst>
            <pc:docMk/>
            <pc:sldMk cId="0" sldId="256"/>
            <ac:spMk id="2" creationId="{00000000-0000-0000-0000-000000000000}"/>
          </ac:spMkLst>
        </pc:spChg>
        <pc:spChg chg="add del">
          <ac:chgData name="Surajkumar Bevnale" userId="a0c76422027cf7ff" providerId="LiveId" clId="{DA4FFEEB-5CF0-4218-8CAC-44DBC8C79EC3}" dt="2026-07-31T16:31:59.649" v="15" actId="478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Surajkumar Bevnale" userId="a0c76422027cf7ff" providerId="LiveId" clId="{DA4FFEEB-5CF0-4218-8CAC-44DBC8C79EC3}" dt="2026-07-31T16:32:31.729" v="16" actId="20577"/>
        <pc:sldMkLst>
          <pc:docMk/>
          <pc:sldMk cId="0" sldId="267"/>
        </pc:sldMkLst>
        <pc:spChg chg="mod">
          <ac:chgData name="Surajkumar Bevnale" userId="a0c76422027cf7ff" providerId="LiveId" clId="{DA4FFEEB-5CF0-4218-8CAC-44DBC8C79EC3}" dt="2026-07-31T16:32:31.729" v="16" actId="20577"/>
          <ac:spMkLst>
            <pc:docMk/>
            <pc:sldMk cId="0" sldId="267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191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Portfolio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predicts a loan default — and where the credit team should focus first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25400">
            <a:solidFill>
              <a:srgbClr val="D4A1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Surajkumar Bevnale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0" y="4206240"/>
            <a:ext cx="2377440" cy="237744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1828800"/>
            <a:ext cx="1005840" cy="1005840"/>
          </a:xfrm>
          <a:prstGeom prst="ellipse">
            <a:avLst/>
          </a:prstGeom>
          <a:solidFill>
            <a:srgbClr val="D4A1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approvals weren't grounded in data. Officers leaned on gut feeling and rules of thumb — like assuming job type signals risk — so risky applicants could get approved as easily as safe ones.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603504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4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factors make a loan more likely to default — and how can that drive better lending decisions?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Examined: income · employment type · credit score · loan type · debt-to-income · repayment history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4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0" y="1600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52360" y="15453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52360" y="1828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dedupe, fix formatting bugs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0" y="1965960"/>
            <a:ext cx="0" cy="54864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949440" y="25146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52360" y="24597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Query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52360" y="2743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SQL joins, CTEs, windows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0" y="2880360"/>
            <a:ext cx="0" cy="54864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949440" y="34290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52360" y="33741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52360" y="3657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 sanity checks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32320" y="3794760"/>
            <a:ext cx="0" cy="54864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949440" y="43434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52360" y="42885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52360" y="4572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two-page dashboard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132320" y="4709160"/>
            <a:ext cx="0" cy="54864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949440" y="52578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52360" y="52029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52360" y="5486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steps for credit &amp; risk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Risk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 — the numbers behind the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4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applications analyzed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8288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4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26280" y="2834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across 5 regions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8288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4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₹435.09 Cr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75320" y="2834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value disbursed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23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4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677.32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77240" y="50292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credit score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4023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4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68.75%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26280" y="50292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approved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023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4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13.91%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75320" y="50292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(of approved loans)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value currently at risk of default: approx. ₹57.7 crore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Risk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Cleaning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raw files, joined on Branch ID — cleaned before anything was trusted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4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loan_applications.csv
</a:t>
            </a: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5,525 rows × 24 columns — applicant, loan &amp; repayment details
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branch_master.csv
</a:t>
            </a: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rows × 4 columns — branch, state, region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4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guess a number when the honest answer is “we don’t know.” Missing values were left blank, not estimated.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554480"/>
            <a:ext cx="658368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93792" y="1847088"/>
            <a:ext cx="128016" cy="12801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11" name="Text 9"/>
          <p:cNvSpPr/>
          <p:nvPr/>
        </p:nvSpPr>
        <p:spPr>
          <a:xfrm>
            <a:off x="5440680" y="1645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9659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exact duplicate rows dropped (5,525 → 5,500)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670048"/>
            <a:ext cx="658368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93792" y="2962656"/>
            <a:ext cx="128016" cy="12801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27614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blanks as blank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0680" y="308152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(137), Income (110), Credit Score (82) missing — kept empty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0" y="3785616"/>
            <a:ext cx="658368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3792" y="4078224"/>
            <a:ext cx="128016" cy="12801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387705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formatting bug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419709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had silently been divided by 100 (8.67% → 0.0867)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0" y="4901184"/>
            <a:ext cx="658368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93792" y="5193792"/>
            <a:ext cx="128016" cy="12801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23" name="Text 21"/>
          <p:cNvSpPr/>
          <p:nvPr/>
        </p:nvSpPr>
        <p:spPr>
          <a:xfrm>
            <a:off x="5440680" y="499262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data mismatch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531266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loans marked defaulted with no default date — flagged for source fix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Risk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Check in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 single SQL query, pandas confirmed the Excel cleaning held 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&amp; column counts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13432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3134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data types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35224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3522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3522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(.describe())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5701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55701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counts (.isnull().sum())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5486400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— Excel matched Python exactly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0" y="3566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4,751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448056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663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Date shows 4,751 missing — and that's correct: only the 749 loans that actually defaulted should carry a default date (5,500 − 749 = 4,751).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Risk Analysis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simple aggregates to window functions, CTEs, and a reusable 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64792"/>
            <a:ext cx="1554480" cy="320040"/>
          </a:xfrm>
          <a:prstGeom prst="roundRect">
            <a:avLst>
              <a:gd name="adj" fmla="val 514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647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1671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volume &amp; profile by employment type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62432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 alone barely moves average credit score (674–680)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764792"/>
            <a:ext cx="1554480" cy="320040"/>
          </a:xfrm>
          <a:prstGeom prst="roundRect">
            <a:avLst>
              <a:gd name="adj" fmla="val 5142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7647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filter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80560" y="21671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defaulted + credit score &lt; 600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80560" y="262432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applicants meet both — the clearest high-risk list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764792"/>
            <a:ext cx="1554480" cy="320040"/>
          </a:xfrm>
          <a:prstGeom prst="roundRect">
            <a:avLst>
              <a:gd name="adj" fmla="val 5142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7647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0" y="21671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branches by disbursed value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262432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Andheri leads total loan exposure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401568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566160"/>
            <a:ext cx="1554480" cy="320040"/>
          </a:xfrm>
          <a:prstGeom prst="roundRect">
            <a:avLst>
              <a:gd name="adj" fmla="val 5142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566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ROW_NUMBER()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396849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each loan within its branch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442569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concentration risk from a few large loans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297680" y="3401568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480560" y="3566160"/>
            <a:ext cx="1554480" cy="320040"/>
          </a:xfrm>
          <a:prstGeom prst="roundRect">
            <a:avLst>
              <a:gd name="adj" fmla="val 51429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566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80560" y="396849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types by avg. credit score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80560" y="442569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job type is a weak risk signal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046720" y="3401568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0" y="3566160"/>
            <a:ext cx="1554480" cy="320040"/>
          </a:xfrm>
          <a:prstGeom prst="roundRect">
            <a:avLst>
              <a:gd name="adj" fmla="val 51429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3566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 + subquery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396849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flags &amp; above-average earners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0" y="442569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spread across job types, not concentrated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Risk Analysis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Source of Truth: branch_risk_summary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SQL view feeds the SQL analysis, Python checks, and the Power BI dashboard alike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4297680"/>
          </a:xfrm>
          <a:prstGeom prst="roundRect">
            <a:avLst>
              <a:gd name="adj" fmla="val 1702"/>
            </a:avLst>
          </a:prstGeom>
          <a:solidFill>
            <a:srgbClr val="141A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branch_risk_summary AS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b.Branch_Name, b.Region,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COUNT(l.Applicant_ID) AS total_loans,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 l.Default_Flag='Yes'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1 ELSE 0 END) AS total_defaults,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ROUND(SUM(CASE WHEN l.Default_Flag='Yes'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1 ELSE 0 END) * 100.0 /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COUNT(l.Applicant_ID), 2) AS default_rate_pct,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AVG(l.Credit_Score) AS avg_credit_score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loan_applications l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branch_master b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l.Branch_ID = b.Branch_ID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b.Branch_Name, b.Region;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903720" y="1600200"/>
            <a:ext cx="475488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7178040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4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78040" y="224028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it sorted by default rate immediately surfaces which branches need attention first.
It's the same logic every downstream tool relies on — no re-derivation, no drift between SQL, Python, and Power BI numbers.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Risk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Page 1 — “how is the portfolio doing right now?”, answered in under 10 seconds</a:t>
            </a:r>
            <a:endParaRPr lang="en-US" sz="1250" dirty="0"/>
          </a:p>
        </p:txBody>
      </p:sp>
      <p:pic>
        <p:nvPicPr>
          <p:cNvPr id="4" name="Image 0" descr="/home/claude/work/dash-1_cro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786384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7863840" cy="4937760"/>
          </a:xfrm>
          <a:prstGeom prst="rect">
            <a:avLst/>
          </a:prstGeom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0" y="1536192"/>
            <a:ext cx="82296" cy="8229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7" name="Text 4"/>
          <p:cNvSpPr/>
          <p:nvPr/>
        </p:nvSpPr>
        <p:spPr>
          <a:xfrm>
            <a:off x="8869680" y="1463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 loans · ₹4,351M disbursed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686800" y="2194560"/>
            <a:ext cx="82296" cy="8229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9" name="Text 6"/>
          <p:cNvSpPr/>
          <p:nvPr/>
        </p:nvSpPr>
        <p:spPr>
          <a:xfrm>
            <a:off x="8869680" y="21214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677.32 avg. credit score · 13.91% default rate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0" y="2852928"/>
            <a:ext cx="82296" cy="8229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0" y="277977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loan-volume trend for seasonality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0" y="3511296"/>
            <a:ext cx="82296" cy="8229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13" name="Text 10"/>
          <p:cNvSpPr/>
          <p:nvPr/>
        </p:nvSpPr>
        <p:spPr>
          <a:xfrm>
            <a:off x="8869680" y="343814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vs. rejected split (68.75% / 31.25%)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0" y="4169664"/>
            <a:ext cx="82296" cy="8229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15" name="Text 12"/>
          <p:cNvSpPr/>
          <p:nvPr/>
        </p:nvSpPr>
        <p:spPr>
          <a:xfrm>
            <a:off x="8869680" y="40965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by employment type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686800" y="4828032"/>
            <a:ext cx="82296" cy="8229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17" name="Text 14"/>
          <p:cNvSpPr/>
          <p:nvPr/>
        </p:nvSpPr>
        <p:spPr>
          <a:xfrm>
            <a:off x="8869680" y="4754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map + Year/Month filter for any viewer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Risk Analysis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Detailed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Page 2 — one level deeper: branches, loan purpose, and days past due</a:t>
            </a:r>
            <a:endParaRPr lang="en-US" sz="1250" dirty="0"/>
          </a:p>
        </p:txBody>
      </p:sp>
      <p:pic>
        <p:nvPicPr>
          <p:cNvPr id="4" name="Image 0" descr="/home/claude/work/dash-2_cro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786384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7863840" cy="4937760"/>
          </a:xfrm>
          <a:prstGeom prst="rect">
            <a:avLst/>
          </a:prstGeom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0" y="1627632"/>
            <a:ext cx="82296" cy="8229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7" name="Text 4"/>
          <p:cNvSpPr/>
          <p:nvPr/>
        </p:nvSpPr>
        <p:spPr>
          <a:xfrm>
            <a:off x="8869680" y="15544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Salaried applicants are the largest single group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686800" y="2587752"/>
            <a:ext cx="82296" cy="8229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9" name="Text 6"/>
          <p:cNvSpPr/>
          <p:nvPr/>
        </p:nvSpPr>
        <p:spPr>
          <a:xfrm>
            <a:off x="8869680" y="25146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Andheri disbursed the most loan value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0" y="3547872"/>
            <a:ext cx="82296" cy="8229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0" y="3474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Loans are the largest category by value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0" y="4507992"/>
            <a:ext cx="82296" cy="8229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13" name="Text 10"/>
          <p:cNvSpPr/>
          <p:nvPr/>
        </p:nvSpPr>
        <p:spPr>
          <a:xfrm>
            <a:off x="8869680" y="44348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Loans: longest avg. days past due (11.7) despite smallest volume — the key operational finding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Risk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says about default risk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41A4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37944"/>
            <a:ext cx="365760" cy="365760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Loans lag on repayment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691640"/>
            <a:ext cx="6675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category by volume, but the highest average days past due at 11.7 days.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41A4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70632"/>
            <a:ext cx="365760" cy="365760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70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62432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varies sharply by region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624328"/>
            <a:ext cx="6675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rates range from 12.12% (East) to 15.09% (North) — a gap worth investigating.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41A4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703320"/>
            <a:ext cx="365760" cy="365760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55701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 is a weak predictor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557016"/>
            <a:ext cx="6675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credit scores across employment types cluster within a narrow 674–680 band.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9826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41A4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636008"/>
            <a:ext cx="365760" cy="365760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36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48970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&amp; history matter more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4489704"/>
            <a:ext cx="6675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stronger signals of default risk than any demographic factor.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3095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41A47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568696"/>
            <a:ext cx="365760" cy="365760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568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54223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high-risk group exists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0" y="5422392"/>
            <a:ext cx="6675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applicants both defaulted and had credit score &lt; 600 — ready for recovery action.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Risk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concrete, actionable steps for the credit and risk teams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377440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Gold Loan approval process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0632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 days average past due — tighter collateral checks or earlier follow-up on late payments.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498848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98848" y="2377440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approval rules across regions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98848" y="30632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3-point default-rate gap (East 12.12% vs. North 15.09%) is too large to be noise.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247888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47888" y="2377440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credit score &amp; history over job type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47888" y="30632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underwriting models on credit score, DTI, and repayment history instead.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43159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9808" y="4937760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195 confirmed high-risk defaulters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808" y="56235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Defaulted + credit score &lt; 600 — the clearest list for immediate recovery action.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41148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498848" y="43159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98848" y="4937760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16 missing default-date records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98848" y="56235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data-entry fix that prevents broken days-past-due and time-to-default reporting.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Risk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D4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 handle messy data matters as much as the analysis itself.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genuine gaps blank instead of guessing — and catching the interest-rate bug before it touched a single calculation — is what makes every number in this report trustworthy. And the data is clear: credit score and repayment behavior beat job type as risk signals, every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886200"/>
            <a:ext cx="2743200" cy="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4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507992"/>
            <a:ext cx="82296" cy="8229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data-entry validation at the source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82296" cy="8229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history to reveal seasonal trends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276088"/>
            <a:ext cx="82296" cy="82296"/>
          </a:xfrm>
          <a:prstGeom prst="ellipse">
            <a:avLst/>
          </a:prstGeom>
          <a:solidFill>
            <a:srgbClr val="D4A15E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51572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default-risk score at time of application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Surajkumar Bevnale  ·  Loan Portfolio Risk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0" y="2926080"/>
            <a:ext cx="1005840" cy="1005840"/>
          </a:xfrm>
          <a:prstGeom prst="ellipse">
            <a:avLst/>
          </a:prstGeom>
          <a:solidFill>
            <a:srgbClr val="D4A15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1317</Words>
  <Application>Microsoft Office PowerPoint</Application>
  <PresentationFormat>Widescreen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Surajkumar Bevnale</cp:lastModifiedBy>
  <cp:revision>1</cp:revision>
  <dcterms:created xsi:type="dcterms:W3CDTF">2026-07-23T07:49:15Z</dcterms:created>
  <dcterms:modified xsi:type="dcterms:W3CDTF">2026-07-31T16:32:38Z</dcterms:modified>
</cp:coreProperties>
</file>